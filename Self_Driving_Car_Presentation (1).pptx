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Self-Driving Car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00C2FF"/>
                </a:solidFill>
                <a:latin typeface="Calibri"/>
              </a:rPr>
              <a:t>End-to-End Autonomous Driving via Behavioral Cloning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703320"/>
            <a:ext cx="7616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3108960" cy="45720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Student: Muhammad Saim Razzaq  |  Ahsan Nadeem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931920"/>
            <a:ext cx="3108960" cy="45720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Tool: TensorFlow · Colab · Udacity Sim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3931920"/>
            <a:ext cx="3108960" cy="45720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Year: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9BBFF"/>
                </a:solidFill>
                <a:latin typeface="Calibri"/>
              </a:rPr>
              <a:t>Inspired by NVIDIA — Bojarski et al. (2016)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Ahsan Nadeem  |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Ahsan Nadeem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What is this project?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55"/>
                </a:solidFill>
                <a:latin typeface="Calibri"/>
              </a:rPr>
              <a:t>This project implements an autonomous driving system using deep learning. A Convolutional Neural Network (CNN) is trained — via behavioral cloning — to predict steering angles directly from raw camera images, with no hand-crafted rules.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3657600" cy="54864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12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🧠  Behavioral Cloning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Learn to drive by imitating
human demonstration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031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657600" cy="54864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212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📷  End-to-End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88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Raw pixels → steering angle
No separate lane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103120"/>
            <a:ext cx="3657600" cy="54864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212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☁️  Colab + Local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788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Train on GPU in the cloud
Run in real-time locally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5CD8"/>
                </a:solidFill>
                <a:latin typeface="Calibri"/>
              </a:rPr>
              <a:t>Platform: Udacity Self-Driving Car Simulator  •  Architecture: NVIDIA-inspired CNN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Ahsan Nadeem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
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Drive manually
in Training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60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79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79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
Balancing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Cap over-represented
steering angles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79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69079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9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9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Augmentation
&amp; Prep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19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Pan, zoom, flip,
YUV + normalize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3287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599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599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19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19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 CNN
(Colab)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39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10 epochs on
GPU 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7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19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19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Export
model.h5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59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Download weights
to local machine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232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1371600"/>
            <a:ext cx="16459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92640" y="1371600"/>
            <a:ext cx="1645920" cy="38404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8360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2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181051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Autonomous
Driving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Calibri"/>
              </a:rPr>
              <a:t>drive.py serves
steering in real-time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5CD8"/>
                </a:solidFill>
                <a:latin typeface="Calibri"/>
              </a:rPr>
              <a:t>Training runs on Google Colab (cloud GPU)  |  Inference runs locally via Socket.IO on port 4567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Model Architecture — NVIDIA-Inspired CNN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Ahsan Nadeem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85800"/>
            <a:ext cx="3200400" cy="41148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7406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Input   66 × 200 × 3  (YUV)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09728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152144"/>
            <a:ext cx="3200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070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Conv 1   24 filters  5×5  /2  ELU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6362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18488"/>
            <a:ext cx="3200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16733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Conv 2   36 filters  5×5  /2  ELU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02996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84832"/>
            <a:ext cx="3200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1396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Conv 3   48 filters  5×5  /2  ELU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49631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51176"/>
            <a:ext cx="3200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Conv 4   64 filters  3×3      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96265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17520"/>
            <a:ext cx="3200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0723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Conv 5   64 filters  3×3      ELU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42900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483864"/>
            <a:ext cx="3200400" cy="411480"/>
          </a:xfrm>
          <a:prstGeom prst="rect">
            <a:avLst/>
          </a:prstGeom>
          <a:solidFill>
            <a:srgbClr val="33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538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Flatten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89534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50208"/>
            <a:ext cx="3200400" cy="411480"/>
          </a:xfrm>
          <a:prstGeom prst="rect">
            <a:avLst/>
          </a:prstGeom>
          <a:solidFill>
            <a:srgbClr val="33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4005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Dense 100   ELU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36168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416552"/>
            <a:ext cx="3200400" cy="411480"/>
          </a:xfrm>
          <a:prstGeom prst="rect">
            <a:avLst/>
          </a:prstGeom>
          <a:solidFill>
            <a:srgbClr val="33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47141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Dense 50   ELU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482803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82896"/>
            <a:ext cx="3200400" cy="411480"/>
          </a:xfrm>
          <a:prstGeom prst="rect">
            <a:avLst/>
          </a:prstGeom>
          <a:solidFill>
            <a:srgbClr val="33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93775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Dense 10   ELU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29437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349240"/>
            <a:ext cx="3200400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540410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Output   1 — Steering angle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6583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3E"/>
                </a:solidFill>
                <a:latin typeface="Calibri"/>
              </a:rPr>
              <a:t>Key Design Decisions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1078992"/>
            <a:ext cx="77724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23360" y="1234440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23360" y="1234440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12710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ELU Activation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158191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Avoids dying-neuron problem; smoother gradients for regression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2075688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23360" y="2075688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21122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Strided Conv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242316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Downsamples spatial dimensions without pooling layers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2916936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23360" y="2916936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0" y="2953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Single 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3264408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One neuron predicts continuous steering angle (regression task)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0" y="3758184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23360" y="3758184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End-to-End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4105656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No hand-crafted features — network learns road cues from data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0" y="4599432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023360" y="4599432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06240" y="4636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Input: YUV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06240" y="494690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YUV colour space separates luminance for better light invariance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0" y="5440680"/>
            <a:ext cx="77724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23360" y="5440680"/>
            <a:ext cx="54864" cy="749808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0" y="54772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MSE Loss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0" y="578815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Mean Squared Error is ideal for continuous steering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Data Processing &amp; Augmentation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Ahsan Nadeem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Preprocessing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54864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280160"/>
            <a:ext cx="822960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1612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Crop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4630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Remove sky &amp; car hood  →  rows 60:135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2024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920240"/>
            <a:ext cx="54864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084832"/>
            <a:ext cx="822960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19659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Colour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26771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Convert RGB → YUV colour space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24912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724912"/>
            <a:ext cx="54864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889504"/>
            <a:ext cx="822960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706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Blur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07238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Gaussian blur 3×3 to reduce noise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29584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529584"/>
            <a:ext cx="54864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694176"/>
            <a:ext cx="822960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5753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Resize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8770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Scale to 200 × 66 pixels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34256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334256"/>
            <a:ext cx="54864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498848"/>
            <a:ext cx="822960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3799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Normalise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6817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Divide by 255  →  pixel values in [0, 1]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6583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Augmentation  (Training Only)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115568"/>
            <a:ext cx="5806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1115568"/>
            <a:ext cx="54864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11612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Random Pan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1225295"/>
            <a:ext cx="731520" cy="32004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4813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Shifts image ±10% horizontally / vertically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1920240"/>
            <a:ext cx="5806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1920240"/>
            <a:ext cx="54864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9659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Zoom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03920" y="2029968"/>
            <a:ext cx="731520" cy="32004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22860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Scales image 1.0–1.2× to vary distance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724912"/>
            <a:ext cx="5806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2724912"/>
            <a:ext cx="54864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27706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Brightness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03920" y="2834640"/>
            <a:ext cx="731520" cy="32004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0906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Adjusts brightness 0.4–1.2× for lighting variation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3529584"/>
            <a:ext cx="5806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35040" y="3529584"/>
            <a:ext cx="54864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5753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Horiz. Flip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03920" y="3639312"/>
            <a:ext cx="731520" cy="320040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38953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Mirrors image; steering angle is negated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513892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5CD8"/>
                </a:solidFill>
                <a:latin typeface="Calibri"/>
              </a:rPr>
              <a:t>⚠  Augmentation applied only to training batches — validation uses raw images for unbiased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Training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Ahsan Nadeem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Hyperparameters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115568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Optimiser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207008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Adam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27632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1627632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1627632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19072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Learning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1719072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0.0001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39696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2139696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139696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23113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Loss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23113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Mean Squared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51760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360" y="2651760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2651760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43200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Batch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2743200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64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63824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80360" y="3163824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163824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255264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Epochs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255264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75888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80360" y="3675888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675888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767328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Steps/Epoch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3767328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300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187952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360" y="4187952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187952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79392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Validation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4279392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200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700016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80360" y="4700016"/>
            <a:ext cx="256032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4700016"/>
            <a:ext cx="36576" cy="45720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79145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Train/Val Split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479145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80% / 20%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6583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Google Colab Workflow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1115568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26480" y="1234440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1968" y="1261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Mount Google Drive &amp; extract data.7z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1828800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26480" y="1947672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19751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Load driving_log.csv → balance steering bins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2542032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126480" y="2660904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1968" y="26883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80/20 train/val split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3255263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26480" y="3374135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1968" y="3401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Batch generator with on-the-fly augmentation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3968496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126480" y="4087368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01968" y="4114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Train CNN → plot loss curve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4681728"/>
            <a:ext cx="5806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126480" y="4800600"/>
            <a:ext cx="347472" cy="347472"/>
          </a:xfrm>
          <a:prstGeom prst="round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1968" y="48280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Download model.h5 to local machine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62636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5CD8"/>
                </a:solidFill>
                <a:latin typeface="Calibri"/>
              </a:rPr>
              <a:t>No local GPU required — all training offloaded to Colab's free GPU 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Local Deployment — drive.py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Ahsan Nadeem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Environment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3035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521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  <a:latin typeface="Courier New"/>
              </a:rPr>
              <a:t>conda deactivate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55"/>
                </a:solidFill>
                <a:latin typeface="Calibri"/>
              </a:rPr>
              <a:t>Exit any existing environment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83664"/>
            <a:ext cx="53035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883664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02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  <a:latin typeface="Courier New"/>
              </a:rPr>
              <a:t>conda create -n drive_env python=3.9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311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55"/>
                </a:solidFill>
                <a:latin typeface="Calibri"/>
              </a:rPr>
              <a:t>Create a clean Python 3.9 env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51760"/>
            <a:ext cx="53035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651760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8833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  <a:latin typeface="Courier New"/>
              </a:rPr>
              <a:t>conda activate drive_env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9923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55"/>
                </a:solidFill>
                <a:latin typeface="Calibri"/>
              </a:rPr>
              <a:t>Activate the environment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19856"/>
            <a:ext cx="53035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419856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564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  <a:latin typeface="Courier New"/>
              </a:rPr>
              <a:t>pip install tensorflow opencv 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673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55"/>
                </a:solidFill>
                <a:latin typeface="Calibri"/>
              </a:rPr>
              <a:t>Install ML + utility packages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87952"/>
            <a:ext cx="5303520" cy="6675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187952"/>
            <a:ext cx="45720" cy="66751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245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pip install python-socketio==4.6.1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354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  <a:latin typeface="Calibri"/>
              </a:rPr>
              <a:t>⚠  Exact version for simulator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956048"/>
            <a:ext cx="5303520" cy="6675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956048"/>
            <a:ext cx="45720" cy="66751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926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pip install python-engineio==3.13.2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03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  <a:latin typeface="Calibri"/>
              </a:rPr>
              <a:t>⚠  Exact version for simulator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6583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Real-Time Control Loop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115568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1115568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44768" y="1280160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1521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Load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146304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Rebuild architecture locally
Call load_weights('model.h5')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1783080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1883664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1883664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44768" y="2048256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19202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Start Server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1968" y="223113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Socket.IO server on port 4567
Eventlet WSGI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2551176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2651760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2651760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144768" y="2816352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26883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Receive Frame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1968" y="299923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Simulator sends base64
encoded camera image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3319272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3419856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3419856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44768" y="3584448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34564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Preprocess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376732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Crop → YUV → Blur →
Resize → Normalise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41080" y="4087368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4187952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35040" y="4187952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44768" y="4352544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1968" y="42245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Predict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1968" y="453542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model.predict() →
steering angle (float)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41080" y="4855464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  <a:latin typeface="Calibri"/>
              </a:rPr>
              <a:t>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4956048"/>
            <a:ext cx="5806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35040" y="4956048"/>
            <a:ext cx="45720" cy="667512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144768" y="5120640"/>
            <a:ext cx="347472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1968" y="49926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Send Control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01968" y="530352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Emit steering + throttle
back to simulator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" y="62636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5CD8"/>
                </a:solidFill>
                <a:latin typeface="Calibri"/>
              </a:rPr>
              <a:t>Throttle = 1.0 − speed / maxSpeed  →  car slows as it approaches speed limit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Results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Ahsan Nadeem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85800"/>
            <a:ext cx="274320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685800"/>
            <a:ext cx="27432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144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  <a:latin typeface="Calibri"/>
              </a:rPr>
              <a:t>~30 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Real-time
inference speed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685800"/>
            <a:ext cx="274320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685800"/>
            <a:ext cx="27432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9144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  <a:latin typeface="Calibri"/>
              </a:rPr>
              <a:t>&lt;0.03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Final validation
MSE loss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685800"/>
            <a:ext cx="274320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685800"/>
            <a:ext cx="27432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9144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Training
epochs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685800"/>
            <a:ext cx="274320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685800"/>
            <a:ext cx="27432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  <a:latin typeface="Calibri"/>
              </a:rPr>
              <a:t>Full Lap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Autonomous
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4231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Training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4231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Driving Behaviour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807208"/>
            <a:ext cx="5669280" cy="36576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807208"/>
            <a:ext cx="5577840" cy="36576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926080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926080"/>
            <a:ext cx="54864" cy="54864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0358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Loss decreased steadily over all 10 epochs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84448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584448"/>
            <a:ext cx="54864" cy="54864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6941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No overfitting — train and val loss tracked closely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42816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242816"/>
            <a:ext cx="54864" cy="54864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3525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Validation MSE remained below 0.03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901184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901184"/>
            <a:ext cx="54864" cy="548640"/>
          </a:xfrm>
          <a:prstGeom prst="rect">
            <a:avLst/>
          </a:prstGeom>
          <a:solidFill>
            <a:srgbClr val="1A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0109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Data balancing reduced straight-driving bias effectively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926080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2926080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035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Car completed full laps without leaving the road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584448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584448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6941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Steering was smooth with no erratic oscillation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242816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4242816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3525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Dynamic throttle maintained stable speed in curves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901184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4901184"/>
            <a:ext cx="54864" cy="548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010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Real-time inference with no noticeable lag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Ahsan Nadeem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9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713232"/>
            <a:ext cx="5760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713232"/>
            <a:ext cx="576072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7772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Socket version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216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4444"/>
                </a:solidFill>
                <a:latin typeface="Calibri"/>
              </a:rPr>
              <a:t>⚠  Problem: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21615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Newer python-socketio versions break the simulator protocol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1719072"/>
            <a:ext cx="5541264" cy="18288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8105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8844"/>
                </a:solidFill>
                <a:latin typeface="Calibri"/>
              </a:rPr>
              <a:t>✔  Solution: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181051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Pinned python-socketio==4.6.1 &amp; python-engineio==3.13.2 in a dedicated Conda env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713232"/>
            <a:ext cx="5760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79" y="713232"/>
            <a:ext cx="576072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7772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Keras model load crash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1216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4444"/>
                </a:solidFill>
                <a:latin typeface="Calibri"/>
              </a:rPr>
              <a:t>⚠  Problem: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121615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load_model() failed due to version mismatch between Colab and local Keras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4807" y="1719072"/>
            <a:ext cx="5541264" cy="18288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18105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8844"/>
                </a:solidFill>
                <a:latin typeface="Calibri"/>
              </a:rPr>
              <a:t>✔  Solution: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181051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Rebuilt model architecture locally in drive.py and used load_weights() instead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02152"/>
            <a:ext cx="5760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502152"/>
            <a:ext cx="576072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5661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Straight-driving data bias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0050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4444"/>
                </a:solidFill>
                <a:latin typeface="Calibri"/>
              </a:rPr>
              <a:t>⚠  Problem: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19" y="400507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Most collected data had steering ≈ 0, causing model to favour going straight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" y="4507992"/>
            <a:ext cx="5541264" cy="18288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459943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8844"/>
                </a:solidFill>
                <a:latin typeface="Calibri"/>
              </a:rPr>
              <a:t>✔  Solution: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19" y="459943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Histogram-based balancing capped each steering bin at 500 samples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79" y="3502152"/>
            <a:ext cx="5760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79" y="3502152"/>
            <a:ext cx="576072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7" y="35661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local GPU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7" y="40050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4444"/>
                </a:solidFill>
                <a:latin typeface="Calibri"/>
              </a:rPr>
              <a:t>⚠  Problem: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59" y="400507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Training a CNN locally would be too slow on a standard laptop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4807" y="4507992"/>
            <a:ext cx="5541264" cy="18288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7" y="459943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8844"/>
                </a:solidFill>
                <a:latin typeface="Calibri"/>
              </a:rPr>
              <a:t>✔  Solution: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59" y="459943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Offloaded all training to Google Colab's free GPU runtime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  <a:latin typeface="Calibri"/>
              </a:rPr>
              <a:t>Self-Driving Car Simulator  |  Muhammad Saim Razzaq  |  Ahsan Nadeem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6476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  <a:latin typeface="Calibri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143000"/>
            <a:ext cx="57881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FF"/>
                </a:solidFill>
                <a:latin typeface="Calibri"/>
              </a:rPr>
              <a:t>A compact NVIDIA-inspired CNN successfully learned to drive a simulated vehicle purely from human demonstration data — no hand-crafted rules, no explicit lane detection. The Colab-to-local workflow proved highly practical: cloud GPU for training, standard laptop for real-time inference.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606040"/>
            <a:ext cx="9966960" cy="502920"/>
          </a:xfrm>
          <a:prstGeom prst="rect">
            <a:avLst/>
          </a:prstGeom>
          <a:solidFill>
            <a:srgbClr val="11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60604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97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End-to-end learning eliminates the need for a multi-stage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200400"/>
            <a:ext cx="9966960" cy="502920"/>
          </a:xfrm>
          <a:prstGeom prst="rect">
            <a:avLst/>
          </a:prstGeom>
          <a:solidFill>
            <a:srgbClr val="11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320040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2918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Data quality &amp; balancing matter more than model complexity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794760"/>
            <a:ext cx="9966960" cy="502920"/>
          </a:xfrm>
          <a:prstGeom prst="rect">
            <a:avLst/>
          </a:prstGeom>
          <a:solidFill>
            <a:srgbClr val="11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379476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3886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Strict dependency management is critical for simulator compatibility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389120"/>
            <a:ext cx="9966960" cy="502920"/>
          </a:xfrm>
          <a:prstGeom prst="rect">
            <a:avLst/>
          </a:prstGeom>
          <a:solidFill>
            <a:srgbClr val="11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438912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4480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Google Colab enables GPU training without expensive local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  <a:latin typeface="Calibri"/>
              </a:rPr>
              <a:t>Future Work: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16636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CCFF"/>
                </a:solidFill>
                <a:latin typeface="Calibri"/>
              </a:rPr>
              <a:t>Multi-track generalisation  •  Left/right camera offsets  •  RC car deployment  •  Reinforcement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  <a:latin typeface="Calibri"/>
              </a:rPr>
              <a:t>github.com/MuhammadSaim-razzaq/behavioral-cloning-self-driving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