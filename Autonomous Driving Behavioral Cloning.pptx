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874E14-B50A-44D9-BFB6-A06389244773}">
  <a:tblStyle styleId="{EA874E14-B50A-44D9-BFB6-A063892447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Relationship Id="rId11" Type="http://schemas.openxmlformats.org/officeDocument/2006/relationships/image" Target="../media/image18.png"/><Relationship Id="rId10" Type="http://schemas.openxmlformats.org/officeDocument/2006/relationships/image" Target="../media/image14.png"/><Relationship Id="rId12" Type="http://schemas.openxmlformats.org/officeDocument/2006/relationships/image" Target="../media/image26.png"/><Relationship Id="rId9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5311" y="1808857"/>
            <a:ext cx="1102137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Autonomous Driving </a:t>
            </a:r>
            <a:r>
              <a:rPr b="0" i="0" lang="en-US" sz="4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Behavioral Cloning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48000" y="2955577"/>
            <a:ext cx="6096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End-to-End Deep Learning for Self-Driving Vehicle Simulation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57587" y="3940373"/>
            <a:ext cx="5076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Muhammad Saim Razzaq</a:t>
            </a: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(24k0704) &amp; </a:t>
            </a:r>
            <a:r>
              <a:rPr b="1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Ahsan Nadeem</a:t>
            </a: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(24k-0814)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57587" y="4262288"/>
            <a:ext cx="5076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 Course | April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557587" y="4727078"/>
            <a:ext cx="5076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TensorFlow / Keras | NVIDIA Architecture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325" y="4774703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381625" y="962025"/>
            <a:ext cx="142875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05276" y="1400175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Overview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286000" y="2238375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Mapping raw camera pixels directly to steering commands through neural imitation.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11585"/>
            <a:ext cx="3486150" cy="3360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11585"/>
            <a:ext cx="3486150" cy="3360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11585"/>
            <a:ext cx="3486150" cy="336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71550" y="3383160"/>
            <a:ext cx="28403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Pipeline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71550" y="3819376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Human driving data captured from Udacity simulator, balanced via steering histogram to eliminate straight-line bias.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43450" y="3383160"/>
            <a:ext cx="28403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CNN Architecture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43450" y="3819376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NVIDIA-inspired 10-layer model trained on Google Colab GPU for behavioral cloning using behavioral imitation.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15350" y="3383160"/>
            <a:ext cx="28403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Deployment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15350" y="3819376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Local real-time Socket.IO server (port 4567) driving the virtual car without hand-engineered rules.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64973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64973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64973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Executive Summary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0673"/>
            <a:ext cx="5229225" cy="2722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30673"/>
            <a:ext cx="5229225" cy="2722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71550" y="2921198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Modular Pipeline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71550" y="3357413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Traditional systems require separate modules for Lane Detection, Object Recognition, Path Planning, and Actuation control.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71550" y="4414688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Highly complex to engineer and maintain.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72275" y="2921198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End-to-End System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72275" y="3357413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A single neural network replaces the entire pipeline, directly mapping raw pixels to steering commands.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72275" y="4109888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Learns internal road features automatically without manual labeling.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NVIDIA Approach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581025" y="39624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718071" y="429190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20362" y="3486150"/>
            <a:ext cx="2547818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Collection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81025" y="4192785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Human driver data generation and straight-driving bias removal.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585841" y="429190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388131" y="3486150"/>
            <a:ext cx="2547818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Training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448794" y="4192785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GPU-accelerated training on Google Colab with 80/20 data split.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453610" y="429190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255900" y="3486150"/>
            <a:ext cx="2547818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Integration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16563" y="4192785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Conda environment setup with strict Socket.IO version pinning.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0321379" y="429190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123670" y="3486150"/>
            <a:ext cx="2547818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Inference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184332" y="4192785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Real-time telemetry and predictive steering via drive.py.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Workflow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8"/>
          <p:cNvGraphicFramePr/>
          <p:nvPr/>
        </p:nvGraphicFramePr>
        <p:xfrm>
          <a:off x="581025" y="21583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{EA874E14-B50A-44D9-BFB6-A06389244773}</a:tableStyleId>
              </a:tblPr>
              <a:tblGrid>
                <a:gridCol w="1288850"/>
                <a:gridCol w="3106775"/>
                <a:gridCol w="2265600"/>
                <a:gridCol w="2455525"/>
                <a:gridCol w="1913175"/>
              </a:tblGrid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Filters /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Kernel / Stride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Convolutional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24, 36, 48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5x5 / Stride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4-5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Convolutional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64, 64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3x3 / Stride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Flatten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7-9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Dense (Fully Connected)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100, 50, 10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Output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18"/>
          <p:cNvSpPr/>
          <p:nvPr/>
        </p:nvSpPr>
        <p:spPr>
          <a:xfrm>
            <a:off x="581025" y="2786955"/>
            <a:ext cx="128885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1869876" y="2786955"/>
            <a:ext cx="310678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976663" y="2786955"/>
            <a:ext cx="226561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242274" y="2786955"/>
            <a:ext cx="245551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697789" y="2786955"/>
            <a:ext cx="191318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81025" y="3363217"/>
            <a:ext cx="1288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869876" y="3363217"/>
            <a:ext cx="31067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976663" y="3363217"/>
            <a:ext cx="226561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242274" y="3363217"/>
            <a:ext cx="245551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9697789" y="3363217"/>
            <a:ext cx="19131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81025" y="3925192"/>
            <a:ext cx="1288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1869876" y="3925192"/>
            <a:ext cx="31067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976663" y="3925192"/>
            <a:ext cx="226561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242274" y="3925192"/>
            <a:ext cx="245551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9697789" y="3925192"/>
            <a:ext cx="19131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81025" y="4487167"/>
            <a:ext cx="1288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869876" y="4487167"/>
            <a:ext cx="31067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976663" y="4487167"/>
            <a:ext cx="226561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242274" y="4487167"/>
            <a:ext cx="245551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9697789" y="4487167"/>
            <a:ext cx="19131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81025" y="5049142"/>
            <a:ext cx="1288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869876" y="5049142"/>
            <a:ext cx="31067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976663" y="5049142"/>
            <a:ext cx="226561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242274" y="5049142"/>
            <a:ext cx="245551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9697789" y="5049142"/>
            <a:ext cx="19131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81025" y="5611117"/>
            <a:ext cx="1288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869876" y="5611117"/>
            <a:ext cx="31067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976663" y="5611117"/>
            <a:ext cx="226561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242274" y="5611117"/>
            <a:ext cx="245551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9697789" y="5611117"/>
            <a:ext cx="19131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NVIDIA CNN Architecture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6855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9638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81025" y="198685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Cropping: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Removes sky and car hood (pixels 60-135).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81025" y="243453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Color Space: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RGB to YUV conversion for lane contrast.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81025" y="288220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Blurring: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3x3 Gaussian kernel to reduce noise.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81025" y="332988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Resizing: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Final 200x66 input for the CNN.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487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4964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294411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339179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Pre-processing Pipeline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6987"/>
            <a:ext cx="3486150" cy="26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66987"/>
            <a:ext cx="3486150" cy="26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566987"/>
            <a:ext cx="3486150" cy="26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2671762"/>
            <a:ext cx="3276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7700" y="2671762"/>
            <a:ext cx="3276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9600" y="2671762"/>
            <a:ext cx="32766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685800" y="4481512"/>
            <a:ext cx="3276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Brightness: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Simulating diverse lighting conditions.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457700" y="4481512"/>
            <a:ext cx="3276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Flipping: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Doubling dataset and removing track bias.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229600" y="4481512"/>
            <a:ext cx="3276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Zoom &amp; Pan: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Simulating lateral track variations.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5325" y="2681287"/>
            <a:ext cx="18383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67225" y="2681287"/>
            <a:ext cx="11334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39125" y="2681287"/>
            <a:ext cx="8572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Augmentation Strategy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" name="Google Shape;232;p21"/>
          <p:cNvGraphicFramePr/>
          <p:nvPr/>
        </p:nvGraphicFramePr>
        <p:xfrm>
          <a:off x="581025" y="21583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{EA874E14-B50A-44D9-BFB6-A06389244773}</a:tableStyleId>
              </a:tblPr>
              <a:tblGrid>
                <a:gridCol w="2708075"/>
                <a:gridCol w="3089375"/>
                <a:gridCol w="5232500"/>
              </a:tblGrid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Hyperparameter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Configuration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Strategic 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Adaptive learning rate for faster convergence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Learning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Prevents overshooting and ensures 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Batch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Balances memory usage and gradient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Epochs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Optimal training length to avoid overfitting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Loss 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Ideal for regression (steering angle prediction)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21"/>
          <p:cNvSpPr/>
          <p:nvPr/>
        </p:nvSpPr>
        <p:spPr>
          <a:xfrm>
            <a:off x="581025" y="2786955"/>
            <a:ext cx="270807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289101" y="2786955"/>
            <a:ext cx="308937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378475" y="2786955"/>
            <a:ext cx="523249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81025" y="3363217"/>
            <a:ext cx="27080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289101" y="3363217"/>
            <a:ext cx="308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378475" y="3363217"/>
            <a:ext cx="523249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81025" y="3925192"/>
            <a:ext cx="27080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289101" y="3925192"/>
            <a:ext cx="308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378475" y="3925192"/>
            <a:ext cx="523249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81025" y="4487167"/>
            <a:ext cx="27080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289101" y="4487167"/>
            <a:ext cx="308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6378475" y="4487167"/>
            <a:ext cx="523249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81025" y="5049142"/>
            <a:ext cx="27080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289101" y="5049142"/>
            <a:ext cx="308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378475" y="5049142"/>
            <a:ext cx="523249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81025" y="5611117"/>
            <a:ext cx="27080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289101" y="5611117"/>
            <a:ext cx="308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378475" y="5611117"/>
            <a:ext cx="523249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Training Configuration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515742"/>
            <a:ext cx="49434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771525" y="1780282"/>
            <a:ext cx="4990623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Real-Time Control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581025" y="1780282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581025" y="270599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Deployment via Drive.py: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The bridge between the Keras model and the Unity simulator.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581025" y="345846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Telemetry data is processed at 30 FPS. The system calculates dynamic throttle based on current velocity to maintain control stability.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06735"/>
            <a:ext cx="11029950" cy="477023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581025" y="4515742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The model successfully navigated all track turns without lane departure, demonstrating high generalization capability and robust control.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 Metrics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305276" y="581025"/>
            <a:ext cx="1158144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81025" y="191452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Muhammad Saim Razzaq | Ahsan Nadeem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581025" y="266119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End-to-End Behavioral Cloning for Autonomous Vehicles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581025" y="3156495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github.com/saim-razzaq | AI Course 2026</a:t>
            </a:r>
            <a:endParaRPr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4775" y="318507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/>
          <p:nvPr/>
        </p:nvSpPr>
        <p:spPr>
          <a:xfrm>
            <a:off x="581025" y="1934616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81025" y="271938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81025" y="3504158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81025" y="4288928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81025" y="27098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81025" y="27098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81025" y="349463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81025" y="349463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81025" y="427940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81025" y="427940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81025" y="506417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81025" y="506417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84040"/>
            <a:ext cx="124777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76400" y="207749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https://www.mdpi.com/electronics/electronics-11-03084/article_deploy/html/images/electronics-11-03084-g005.png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76400" y="232320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868810"/>
            <a:ext cx="1371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76400" y="286226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https://framerusercontent.com/images/3eTdLtpMaYswD5HKxNMirPYyaU.png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76400" y="310797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www.v7labs.com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53581"/>
            <a:ext cx="15430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76400" y="364703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https://onlinejpgtools.com/images/examples-onlinejpgtools/car-on-a-road-hflipped.jpg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76400" y="389274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onlinejpgtools.com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38352"/>
            <a:ext cx="10382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76400" y="443180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https://miro.medium.com/v2/resize:fit:1400/1*UUZcSousKuSqTvCXZSj-HA.jpeg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76400" y="467751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223123"/>
            <a:ext cx="10382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76400" y="521657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https://miro.medium.com/1*eYX5niSa9pDv1ZOzAcB_dQ.png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76400" y="546228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581025" y="581025"/>
            <a:ext cx="76200" cy="54471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